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028400e0-a8a6-be0b-336f-dca2299a9bb1}">
          <p14:sldIdLst>
            <p14:sldId id="256"/>
            <p14:sldId id="257"/>
            <p14:sldId id="258"/>
            <p14:sldId id="259"/>
          </p14:sldIdLst>
        </p14:section>
        <p14:section name="Results" id="{f253a005-6d1b-e5c2-fed8-cc6c61bd4446}">
          <p14:sldIdLst>
            <p14:sldId id="260"/>
            <p14:sldId id="261"/>
            <p14:sldId id="262"/>
          </p14:sldIdLst>
        </p14:section>
        <p14:section name="Wrap-up" id="{2528b4fd-f158-58fb-a30c-c92ff6909681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3A5F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3A5F"/>
                </a:solidFill>
                <a:latin typeface="+mn-lt"/>
              </a:rPr>
              <a:t>Execution time in ms (log scale)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Serial CPU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0.0##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1M</c:v>
                  </c:pt>
                  <c:pt idx="1">
                    <c:v>10M</c:v>
                  </c:pt>
                  <c:pt idx="2">
                    <c:v>50M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0.588</c:v>
                </c:pt>
                <c:pt idx="1">
                  <c:v>10.05</c:v>
                </c:pt>
                <c:pt idx="2">
                  <c:v>51.485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OpenMP (4 threads)</c:v>
                </c:pt>
              </c:strCache>
            </c:strRef>
          </c:tx>
          <c:spPr>
            <a:solidFill>
              <a:srgbClr val="1F6FEB"/>
            </a:solidFill>
            <a:effectLst/>
          </c:spPr>
          <c:invertIfNegative val="0"/>
          <c:dLbls>
            <c:numFmt formatCode="0.0##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1M</c:v>
                  </c:pt>
                  <c:pt idx="1">
                    <c:v>10M</c:v>
                  </c:pt>
                  <c:pt idx="2">
                    <c:v>50M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0.659</c:v>
                </c:pt>
                <c:pt idx="1">
                  <c:v>7.509</c:v>
                </c:pt>
                <c:pt idx="2">
                  <c:v>43.498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CUDA kernel only</c:v>
                </c:pt>
              </c:strCache>
            </c:strRef>
          </c:tx>
          <c:spPr>
            <a:solidFill>
              <a:srgbClr val="76B900"/>
            </a:solidFill>
            <a:effectLst/>
          </c:spPr>
          <c:invertIfNegative val="0"/>
          <c:dLbls>
            <c:numFmt formatCode="0.0##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1M</c:v>
                  </c:pt>
                  <c:pt idx="1">
                    <c:v>10M</c:v>
                  </c:pt>
                  <c:pt idx="2">
                    <c:v>50M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0.051</c:v>
                </c:pt>
                <c:pt idx="1">
                  <c:v>0.459</c:v>
                </c:pt>
                <c:pt idx="2">
                  <c:v>2.284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CUDA total (with copy)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0.0##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1M</c:v>
                  </c:pt>
                  <c:pt idx="1">
                    <c:v>10M</c:v>
                  </c:pt>
                  <c:pt idx="2">
                    <c:v>50M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2.69</c:v>
                </c:pt>
                <c:pt idx="1">
                  <c:v>25.964</c:v>
                </c:pt>
                <c:pt idx="2">
                  <c:v>131.537</c:v>
                </c:pt>
              </c:numCache>
            </c:numRef>
          </c:val>
        </c:ser>
        <c:dLbls>
          <c:numFmt formatCode="0.0##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+mn-lt"/>
                  </a:rPr>
                  <a:t>Array size (N)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B1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  <c:max val="1000"/>
          <c:min val="0.01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063240"/>
            <a:ext cx="1097280" cy="6400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1280160"/>
            <a:ext cx="78638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PGC Lab Evaluation 1  |  Team 10  |  CPU vs GPU Data Processing</a:t>
            </a:r>
            <a:endParaRPr lang="en-US" sz="9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128016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CPU vs GPU Data Processing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46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OpenMP + CUDA  |  Vector Addition Performance Comparison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6576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Parallel Computing Lab Evaluation 1  |  Team 10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0233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Chaitra  |  KLE Technological University, Hubballi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Problem Statement &amp; Approach</a:t>
            </a:r>
            <a:endParaRPr lang="en-US" sz="2600" dirty="0"/>
          </a:p>
        </p:txBody>
      </p:sp>
      <p:sp>
        <p:nvSpPr>
          <p:cNvPr id="3" name="Card Problem"/>
          <p:cNvSpPr/>
          <p:nvPr/>
        </p:nvSpPr>
        <p:spPr>
          <a:xfrm>
            <a:off x="457200" y="1280160"/>
            <a:ext cx="3977640" cy="2651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Problem Statement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Perform the same numerical operation using CPU threads (OpenMP) and GPU (CUDA).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Compare the performance of both.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Parallel models: OpenMP + CUDA</a:t>
            </a:r>
            <a:endParaRPr lang="en-US" sz="1400" dirty="0"/>
          </a:p>
        </p:txBody>
      </p:sp>
      <p:sp>
        <p:nvSpPr>
          <p:cNvPr id="6" name="Card Approach"/>
          <p:cNvSpPr/>
          <p:nvPr/>
        </p:nvSpPr>
        <p:spPr>
          <a:xfrm>
            <a:off x="4709160" y="1280160"/>
            <a:ext cx="3977640" cy="2651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Our Approach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828800"/>
            <a:ext cx="3611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Operation: vector addition  C = A + B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Sizes: 1M, 10M and 50M floats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OpenMP with 1, 2 and 4 threads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CUDA: one GPU thread per element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Verify results match, then compute speedup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Implementation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OpenMP (CPU threads)</a:t>
            </a:r>
            <a:endParaRPr lang="en-US" sz="1500" dirty="0"/>
          </a:p>
        </p:txBody>
      </p:sp>
      <p:sp>
        <p:nvSpPr>
          <p:cNvPr id="4" name="Code OpenMP"/>
          <p:cNvSpPr/>
          <p:nvPr/>
        </p:nvSpPr>
        <p:spPr>
          <a:xfrm>
            <a:off x="457200" y="1554480"/>
            <a:ext cx="3931920" cy="173736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64592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#pragma omp parallel for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n; i++)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c[i] = a[i] + b[i];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CUDA (GPU threads)</a:t>
            </a:r>
            <a:endParaRPr lang="en-US" sz="1500" dirty="0"/>
          </a:p>
        </p:txBody>
      </p:sp>
      <p:sp>
        <p:nvSpPr>
          <p:cNvPr id="7" name="Code CUDA"/>
          <p:cNvSpPr/>
          <p:nvPr/>
        </p:nvSpPr>
        <p:spPr>
          <a:xfrm>
            <a:off x="4754880" y="1554480"/>
            <a:ext cx="3931920" cy="173736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64592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__global__ void addKernel(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float *a, const float *b,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 *c, int n)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i = blockIdx.x * blockDim.x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+ threadIdx.x;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(i &lt; n) c[i] = a[i] + b[i];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Timing: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omp_get_wtime() for CPU, cudaEvent for GPU. Warm-up run first, then best of 5 runs.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CUDA total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= copy to GPU + kernel + copy back.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CUDA kernel only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= just the computation.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Experimental Setup</a:t>
            </a:r>
            <a:endParaRPr lang="en-US" sz="2600" dirty="0"/>
          </a:p>
        </p:txBody>
      </p:sp>
      <p:sp>
        <p:nvSpPr>
          <p:cNvPr id="3" name="Card CPU (OpenMP)"/>
          <p:cNvSpPr/>
          <p:nvPr/>
        </p:nvSpPr>
        <p:spPr>
          <a:xfrm>
            <a:off x="457200" y="1280160"/>
            <a:ext cx="2560320" cy="2468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r CPU (OpenMP)"/>
          <p:cNvSpPr/>
          <p:nvPr/>
        </p:nvSpPr>
        <p:spPr>
          <a:xfrm>
            <a:off x="457200" y="1280160"/>
            <a:ext cx="2560320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CPU (OpenMP)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Ubuntu 24.04 VM (VMware)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4 CPU cores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gcc -O2 -fopenmp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Threads: 1, 2, 4</a:t>
            </a:r>
            <a:endParaRPr lang="en-US" sz="1250" dirty="0"/>
          </a:p>
        </p:txBody>
      </p:sp>
      <p:sp>
        <p:nvSpPr>
          <p:cNvPr id="7" name="Card GPU (CUDA)"/>
          <p:cNvSpPr/>
          <p:nvPr/>
        </p:nvSpPr>
        <p:spPr>
          <a:xfrm>
            <a:off x="3291840" y="1280160"/>
            <a:ext cx="2560320" cy="2468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Bar GPU (CUDA)"/>
          <p:cNvSpPr/>
          <p:nvPr/>
        </p:nvSpPr>
        <p:spPr>
          <a:xfrm>
            <a:off x="3291840" y="1280160"/>
            <a:ext cx="2560320" cy="7315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463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GPU (CUDA)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92024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Google Colab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NVIDIA Tesla T4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nvcc -O2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256 threads per block</a:t>
            </a:r>
            <a:endParaRPr lang="en-US" sz="1250" dirty="0"/>
          </a:p>
        </p:txBody>
      </p:sp>
      <p:sp>
        <p:nvSpPr>
          <p:cNvPr id="11" name="Card Test Data"/>
          <p:cNvSpPr/>
          <p:nvPr/>
        </p:nvSpPr>
        <p:spPr>
          <a:xfrm>
            <a:off x="6126480" y="1280160"/>
            <a:ext cx="2560320" cy="2468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Bar Test Data"/>
          <p:cNvSpPr/>
          <p:nvPr/>
        </p:nvSpPr>
        <p:spPr>
          <a:xfrm>
            <a:off x="6126480" y="1280160"/>
            <a:ext cx="2560320" cy="7315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1463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Test Data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192024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Float arrays A and B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N = 1M, 10M, 50M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Result checked against serial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Best of 5 runs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Results: CPU vs GPU (time in ms)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920240"/>
                <a:gridCol w="1920240"/>
                <a:gridCol w="19202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 = 1M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 = 10M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 = 50M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B1B"/>
                          </a:solidFill>
                        </a:rPr>
                        <a:t>Serial CPU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</a:rPr>
                        <a:t>0.588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</a:rPr>
                        <a:t>10.050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</a:rPr>
                        <a:t>51.485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B1B"/>
                          </a:solidFill>
                        </a:rPr>
                        <a:t>OpenMP 1 thread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</a:rPr>
                        <a:t>0.661 (0.89x)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</a:rPr>
                        <a:t>9.727 (1.03x)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</a:rPr>
                        <a:t>52.972 (0.97x)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B1B"/>
                          </a:solidFill>
                        </a:rPr>
                        <a:t>OpenMP 2 threads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</a:rPr>
                        <a:t>0.635 (0.93x)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</a:rPr>
                        <a:t>7.611 (1.32x)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</a:rPr>
                        <a:t>44.066 (1.17x)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B1B"/>
                          </a:solidFill>
                        </a:rPr>
                        <a:t>OpenMP 4 threads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</a:rPr>
                        <a:t>0.659 (0.89x)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</a:rPr>
                        <a:t>7.509 (1.34x)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</a:rPr>
                        <a:t>43.498 (1.18x)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B1B"/>
                          </a:solidFill>
                        </a:rPr>
                        <a:t>CUDA kernel only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1B1B"/>
                          </a:solidFill>
                        </a:rPr>
                        <a:t>0.051 (11.5x)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1B1B"/>
                          </a:solidFill>
                        </a:rPr>
                        <a:t>0.459 (21.9x)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1B1B"/>
                          </a:solidFill>
                        </a:rPr>
                        <a:t>2.284 (22.5x)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B1B"/>
                          </a:solidFill>
                        </a:rPr>
                        <a:t>CUDA total (with copy)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</a:rPr>
                        <a:t>2.690 (0.22x)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</a:rPr>
                        <a:t>25.964 (0.39x)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</a:rPr>
                        <a:t>131.537 (0.39x)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0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Values in brackets = speedup vs serial CPU. All results verified correct (matched serial output).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Graph: Execution Time vs N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143000"/>
          <a:ext cx="566928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 Takeaways"/>
          <p:cNvSpPr/>
          <p:nvPr/>
        </p:nvSpPr>
        <p:spPr>
          <a:xfrm>
            <a:off x="6217920" y="1234440"/>
            <a:ext cx="2468880" cy="3246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355080" y="1325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What the graph shows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355080" y="1737360"/>
            <a:ext cx="2194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CUDA kernel is up to 22x faster than serial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OpenMP gives only about 1.2x to 1.3x at large 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CUDA total is slower than CPU because of copy time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OpenMP Results on Ubuntu VM (time in ms)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463040"/>
                <a:gridCol w="1828800"/>
                <a:gridCol w="1920240"/>
                <a:gridCol w="19202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Serial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1 thread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2 threads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4 threads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B1B"/>
                          </a:solidFill>
                        </a:rPr>
                        <a:t>1M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</a:rPr>
                        <a:t>0.713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</a:rPr>
                        <a:t>0.787 (0.91x)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</a:rPr>
                        <a:t>0.325 (2.19x)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1B1B"/>
                          </a:solidFill>
                        </a:rPr>
                        <a:t>0.233 (3.05x)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D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B1B"/>
                          </a:solidFill>
                        </a:rPr>
                        <a:t>10M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</a:rPr>
                        <a:t>7.577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</a:rPr>
                        <a:t>7.892 (0.96x)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</a:rPr>
                        <a:t>6.369 (1.19x)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</a:rPr>
                        <a:t>6.618 (1.14x)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B1B"/>
                          </a:solidFill>
                        </a:rPr>
                        <a:t>50M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</a:rPr>
                        <a:t>39.615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</a:rPr>
                        <a:t>50.200 (0.79x)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</a:rPr>
                        <a:t>33.125 (1.20x)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B1B"/>
                          </a:solidFill>
                        </a:rPr>
                        <a:t>33.233 (1.19x)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Small N (1M): 4 threads give about 3x speedup.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Large N (10M, 50M): speedup stays about 1.2x, because vector addition is memory-bound.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 thread is slightly slower than serial due to OpenMP overhead.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Conclusion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CUDA kernel was the fastest, up to 22.5x faster than serial CPU.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OpenMP scales with threads, but vector addition is memory-bound, so the gain is small at large N.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CUDA total time (with PCIe copy) was slower than the CPU, because copying data costs more than the addition itself.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Use the GPU when there is heavy computation per element or when data stays on the GPU across many operations. Use OpenMP for simple, light operations.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GC Lab Eval">
  <a:themeElements>
    <a:clrScheme name="PGC Lab Eval">
      <a:dk1>
        <a:srgbClr val="1B1B1B"/>
      </a:dk1>
      <a:lt1>
        <a:srgbClr val="FFFFFF"/>
      </a:lt1>
      <a:dk2>
        <a:srgbClr val="1F3A5F"/>
      </a:dk2>
      <a:lt2>
        <a:srgbClr val="F2F5F9"/>
      </a:lt2>
      <a:accent1>
        <a:srgbClr val="1F6FEB"/>
      </a:accent1>
      <a:accent2>
        <a:srgbClr val="76B900"/>
      </a:accent2>
      <a:accent3>
        <a:srgbClr val="F59E0B"/>
      </a:accent3>
      <a:accent4>
        <a:srgbClr val="6B7280"/>
      </a:accent4>
      <a:accent5>
        <a:srgbClr val="0EA5E9"/>
      </a:accent5>
      <a:accent6>
        <a:srgbClr val="E11D48"/>
      </a:accent6>
      <a:hlink>
        <a:srgbClr val="1F6FEB"/>
      </a:hlink>
      <a:folHlink>
        <a:srgbClr val="6B7280"/>
      </a:folHlink>
    </a:clrScheme>
    <a:fontScheme name="PGC Lab Eva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PGC Lab Evaluation 1 - CPU vs GPU Data Processing</dc:title>
  <dc:subject>PptxGenJS Presentation</dc:subject>
  <dc:creator>Chaitra</dc:creator>
  <cp:lastModifiedBy>Chaitra</cp:lastModifiedBy>
  <cp:revision>1</cp:revision>
  <dcterms:created xsi:type="dcterms:W3CDTF">2026-10-08T05:31:06Z</dcterms:created>
  <dcterms:modified xsi:type="dcterms:W3CDTF">2026-10-08T05:31:06Z</dcterms:modified>
</cp:coreProperties>
</file>